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88952" cy="260604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Walmart Weekly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67E22"/>
                </a:solidFill>
                <a:latin typeface="Calibri"/>
              </a:rPr>
              <a:t>Demand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D6E4F0"/>
                </a:solidFill>
                <a:latin typeface="Calibri"/>
              </a:rPr>
              <a:t>Inventory Demand Forecasting using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3657600" cy="25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Lin En Tan  ·  Elina I</a:t>
            </a:r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vanova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0"/>
                </a:solidFill>
                <a:latin typeface="Calibri"/>
              </a:rPr>
              <a:t>University of Illinois Springfield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DC3C7"/>
                </a:solidFill>
                <a:latin typeface="Calibri"/>
              </a:rPr>
              <a:t>Dataset: Kaggle — Walmart Weekly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1097280"/>
          </a:xfrm>
          <a:prstGeom prst="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399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Problem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0136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Motivation, dataset, and project goals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5394960" cy="10972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3990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Data Exploration &amp; 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180136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Dataset structure, distributions, key statistics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06040"/>
            <a:ext cx="5394960" cy="1097280"/>
          </a:xfrm>
          <a:prstGeom prst="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6791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Statistical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081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Feature significance testing (Pearson, Kendall, ANOVA)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606040"/>
            <a:ext cx="5394960" cy="10972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26791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Feature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081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Date decomposition, encoding, scaling, train/test split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86200"/>
            <a:ext cx="5394960" cy="1097280"/>
          </a:xfrm>
          <a:prstGeom prst="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9593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Model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3616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6 models: Linear → Polynomial → Ridge → XGBoost → RF → GB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886200"/>
            <a:ext cx="5394960" cy="10972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1928" y="3977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9593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Results &amp;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436168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R², MAE, RMSE across all 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66360"/>
            <a:ext cx="5394960" cy="1097280"/>
          </a:xfrm>
          <a:prstGeom prst="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6418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Best model, key findings,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Definition &amp; Project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53035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Walmart operates 45 stores with highly variable weekly sales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Sales driven by seasonality, economic conditions &amp; holidays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Inaccurate forecasting → overstock or stockouts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Overstock increases holding costs; stockouts cut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Project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Build an end-to-end ML pipeline to forecast Weekly_Sales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Apply statistical tests to identify significant predictors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Train and compare 6 regression models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Identify the best model by Test R², MAE, and 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760720" cy="5303520"/>
          </a:xfrm>
          <a:prstGeom prst="rect">
            <a:avLst/>
          </a:prstGeom>
          <a:solidFill>
            <a:srgbClr val="FDF6EC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Dataset at a Glance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  <a:latin typeface="Calibri"/>
              </a:rPr>
              <a:t>6,435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2315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Weekly sales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874519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  <a:latin typeface="Calibri"/>
              </a:rP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42315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Walmart stores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154679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20039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  <a:latin typeface="Calibri"/>
              </a:rPr>
              <a:t>Feb 2010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033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– Oct 2012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154679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320039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7033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Original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434839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448055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  <a:latin typeface="Calibri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9834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Features after engineering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4434839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0" y="448055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5B6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9834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Missing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  <a:latin typeface="Calibri"/>
              </a:rPr>
              <a:t>Walmart Weekly Sales —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Store number (1 to 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Weekly_Sales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Target variable — weekly sales ($)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Holiday_Flag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 = special holiday week (Super Bowl, Thanksgiving…)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Average temperature in the region (°F)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Fuel_Price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Cost of fuel in the region — DROPPED (p = 0.45)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Consumer Price Index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Unemployment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Regional unemployment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Decomposed → Week, Month, Year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257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  <a:latin typeface="Calibri"/>
              </a:rPr>
              <a:t>⬆  Mean Weekly Sales: $1,047,000  |  Range: $209,986 – $3,818,686  |  Std Dev: $564,367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230368"/>
            <a:ext cx="11430000" cy="25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Statistical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  <a:latin typeface="Calibri"/>
              </a:rPr>
              <a:t>Testing each feature's association with Weekly_Sales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9875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Pearson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 = −0.064,  p =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✔ 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Pearson 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 = −0.073,  p &lt; 0.0001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✔ KEEP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Unemployment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Pearson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 = −0.106,  p &lt;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✔ 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Fuel_Price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Pearson 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 = +0.010,  p = 0.448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✘ DROP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Kendall's 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τ = +0.033,  p =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✔ 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Kendall's 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τ = +0.035,  p &lt; 0.0001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✔ KEEP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Holiday_Flag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Two-sample t-test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t = −2.68,   p = 0.0076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✔ KEEP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ANOVA + Kruskal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F = 1613,  η² = 0.917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✔ KEEP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49240"/>
            <a:ext cx="11430000" cy="777240"/>
          </a:xfrm>
          <a:prstGeom prst="rect">
            <a:avLst/>
          </a:prstGeom>
          <a:solidFill>
            <a:srgbClr val="E8F5E9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Key Insight:  Store identity (η² = 0.917) is by far the dominant predictor. Fuel_Price is the only feature dropped (p = 0.45). Final feature set: 50 columns (Store one-hot encoded, drop_first=True).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Engineering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02920" cy="2377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21031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Date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Parse Date column (dd-mm-yyyy)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Extract: Week (ISO), Month, Year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Captures seasonality &amp; long-term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02920" cy="2377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21031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Holiday_Flag: label-encoded (already binary)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Store: one-hot encoded (45 → 44 dummies)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drop_first=True avoids dummy trap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502920" cy="23774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47091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  <a:latin typeface="Calibri"/>
              </a:rPr>
              <a:t>Feature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Drop Fuel_Price (p = 0.448)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Retain 50 features after encoding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Based on significance tests (p &lt; 0.05)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886200"/>
            <a:ext cx="502920" cy="23774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81928" y="47091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77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Scaling &amp;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34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StandardScaler (linear models only)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Fit on training set only — no data leakage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80 / 20 split  |  random_state = 42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Train: 5,148 rows  |  Test: 1,287 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Models 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  <a:latin typeface="Calibri"/>
              </a:rPr>
              <a:t>6 regression models — same 80/20 split and feature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5577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◀  Linear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577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8B4C"/>
                </a:solidFill>
                <a:latin typeface="Calibri"/>
              </a:rPr>
              <a:t>Ensemble Models  ▶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5584EBD-61F1-B01C-B8C9-0FCEAC445281}"/>
              </a:ext>
            </a:extLst>
          </p:cNvPr>
          <p:cNvGrpSpPr/>
          <p:nvPr/>
        </p:nvGrpSpPr>
        <p:grpSpPr>
          <a:xfrm>
            <a:off x="36512" y="1227328"/>
            <a:ext cx="12115800" cy="4350512"/>
            <a:chOff x="274320" y="1234440"/>
            <a:chExt cx="12115800" cy="4350512"/>
          </a:xfrm>
        </p:grpSpPr>
        <p:sp>
          <p:nvSpPr>
            <p:cNvPr id="7" name="Rectangle 6"/>
            <p:cNvSpPr/>
            <p:nvPr/>
          </p:nvSpPr>
          <p:spPr>
            <a:xfrm>
              <a:off x="274320" y="1234440"/>
              <a:ext cx="1828800" cy="4206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274320" y="1234440"/>
              <a:ext cx="1828800" cy="4572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320" y="1261872"/>
              <a:ext cx="18288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" y="1783080"/>
              <a:ext cx="1682496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2E75B6"/>
                  </a:solidFill>
                  <a:latin typeface="Calibri"/>
                </a:rPr>
                <a:t>Linear
Regression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" y="2743200"/>
              <a:ext cx="1645920" cy="246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2C3E50"/>
                  </a:solidFill>
                  <a:latin typeface="Calibri"/>
                </a:rPr>
                <a:t>OLS baseline
StandardScaler
No regularisation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31720" y="1234440"/>
              <a:ext cx="1828800" cy="4206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31720" y="1234440"/>
              <a:ext cx="1828800" cy="4572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31720" y="1261872"/>
              <a:ext cx="18288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04872" y="1783080"/>
              <a:ext cx="1682496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2E75B6"/>
                  </a:solidFill>
                  <a:latin typeface="Calibri"/>
                </a:rPr>
                <a:t>Polynomial
Regression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23160" y="2743200"/>
              <a:ext cx="1645920" cy="246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2C3E50"/>
                  </a:solidFill>
                  <a:latin typeface="Calibri"/>
                </a:rPr>
                <a:t>Degree-2 features
Pipeline: Poly→Scale→LR
Captures non-linearity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89120" y="1234440"/>
              <a:ext cx="1828800" cy="4206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89120" y="1234440"/>
              <a:ext cx="1828800" cy="4572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389120" y="1261872"/>
              <a:ext cx="18288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62272" y="1783080"/>
              <a:ext cx="1682496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2E75B6"/>
                  </a:solidFill>
                  <a:latin typeface="Calibri"/>
                </a:rPr>
                <a:t>Ridge
Regression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80560" y="2743200"/>
              <a:ext cx="1645920" cy="246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2C3E50"/>
                  </a:solidFill>
                  <a:latin typeface="Calibri"/>
                </a:rPr>
                <a:t>L2 regularisation
GridSearchCV over α
Best α = 0.1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46520" y="1234440"/>
              <a:ext cx="1828800" cy="4206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67E2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46520" y="1234440"/>
              <a:ext cx="1828800" cy="457200"/>
            </a:xfrm>
            <a:prstGeom prst="rect">
              <a:avLst/>
            </a:prstGeom>
            <a:solidFill>
              <a:srgbClr val="E67E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46520" y="1261872"/>
              <a:ext cx="18288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19672" y="1783080"/>
              <a:ext cx="1682496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 err="1">
                  <a:solidFill>
                    <a:srgbClr val="E67E22"/>
                  </a:solidFill>
                  <a:latin typeface="Calibri"/>
                </a:rPr>
                <a:t>XGBoost</a:t>
              </a:r>
              <a:endParaRPr sz="1400" b="1" i="0" dirty="0">
                <a:solidFill>
                  <a:srgbClr val="E67E22"/>
                </a:solidFill>
                <a:latin typeface="Calibri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37960" y="2743200"/>
              <a:ext cx="1645920" cy="246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2C3E50"/>
                  </a:solidFill>
                  <a:latin typeface="Calibri"/>
                </a:rPr>
                <a:t>100 trees, depth=3
LR = 0.1
No scaling required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503920" y="1234440"/>
              <a:ext cx="1828800" cy="4206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E8B4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503920" y="1234440"/>
              <a:ext cx="1828800" cy="457200"/>
            </a:xfrm>
            <a:prstGeom prst="rect">
              <a:avLst/>
            </a:prstGeom>
            <a:solidFill>
              <a:srgbClr val="1E8B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503920" y="1261872"/>
              <a:ext cx="18288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77072" y="1783080"/>
              <a:ext cx="1682496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E8B4C"/>
                  </a:solidFill>
                  <a:latin typeface="Calibri"/>
                </a:rPr>
                <a:t>Random
Forest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595360" y="2743200"/>
              <a:ext cx="1645920" cy="246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2C3E50"/>
                  </a:solidFill>
                  <a:latin typeface="Calibri"/>
                </a:rPr>
                <a:t>200 trees, sqrt features
Bagging ensemble
No scaling required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561320" y="1234440"/>
              <a:ext cx="1828800" cy="42062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E8B4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561320" y="1234440"/>
              <a:ext cx="1828800" cy="457200"/>
            </a:xfrm>
            <a:prstGeom prst="rect">
              <a:avLst/>
            </a:prstGeom>
            <a:solidFill>
              <a:srgbClr val="1E8B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561320" y="1261872"/>
              <a:ext cx="18288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i="0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634472" y="1783080"/>
              <a:ext cx="1682496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E8B4C"/>
                  </a:solidFill>
                  <a:latin typeface="Calibri"/>
                </a:rPr>
                <a:t>Gradient
Boosting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652760" y="2743200"/>
              <a:ext cx="1645920" cy="246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2C3E50"/>
                  </a:solidFill>
                  <a:latin typeface="Calibri"/>
                </a:rPr>
                <a:t>200 trees, depth=4
LR = 0.1, shrinkage
No scaling required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74320" y="5559552"/>
              <a:ext cx="5394960" cy="254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446520" y="5559552"/>
              <a:ext cx="5394960" cy="25400"/>
            </a:xfrm>
            <a:prstGeom prst="rect">
              <a:avLst/>
            </a:prstGeom>
            <a:solidFill>
              <a:srgbClr val="1E8B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Linear Models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  <a:latin typeface="Calibri"/>
              </a:rPr>
              <a:t>Linear Regression · Polynomial Regression · Ridge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Train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$96,163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$154,818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Polynomial Regression (Deg. 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0.9563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0.9484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$78,223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$128,887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Ridge Regression (α = 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$96,161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$154,820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154680"/>
            <a:ext cx="3840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3840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57600"/>
            <a:ext cx="3611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Strong baseline: Test R² = 0.9256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No overfitting — Train ≈ Test R²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Store dummies dominate coefficients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3154680"/>
            <a:ext cx="3840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3154680"/>
            <a:ext cx="3840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3200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Polynomial Regression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3657600"/>
            <a:ext cx="3611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Best linear model: Test R² = 0.9484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17% RMSE reduction vs Linear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Captures non-linear feature interactions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Small overfit gap (0.0079) — generalises well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3154680"/>
            <a:ext cx="3840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598" y="3154680"/>
            <a:ext cx="384048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8" y="3200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Ridge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3657600"/>
            <a:ext cx="3611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Nearly identical to Linear Regression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Best α = 0.1 via 5-fold GridSearchCV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L2 regularisation gave no improvement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Dataset not suffering from multicollinearity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Ensemble Models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  <a:latin typeface="Calibri"/>
              </a:rPr>
              <a:t>XGBoost · Random Forest · Gradient Boosting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0789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Train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XGBoost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$188,268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$232,394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0.9942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0.9562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$64,214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$118,830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0.0380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$85,187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$133,577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108960"/>
            <a:ext cx="3840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3108960"/>
            <a:ext cx="38404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Random Forest 🏆 Best Overall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11880"/>
            <a:ext cx="3611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Highest Test R²: 0.9562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Lowest Test RMSE: $118,830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Train R² (0.9942) &gt;&gt; Test R² — moderate overfit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Gap = 0.038 typical for unconstrained bagging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Tuning max_depth would reduce overfitting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3108960"/>
            <a:ext cx="3840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3108960"/>
            <a:ext cx="3840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3611880"/>
            <a:ext cx="3611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Test R² = 0.9446  |  RMSE = $133,577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Ranked 3rd overall, 2nd among ensembles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Better generalisation: gap = 0.019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Shrinkage (LR = 0.1) acts as regularisation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More stable than Random Forest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3108960"/>
            <a:ext cx="384048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598" y="3108960"/>
            <a:ext cx="3840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8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3611880"/>
            <a:ext cx="3611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Weakest model: Test R² = 0.8324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Small gap (0.0085) = underfitting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Only 100 shallow trees (max_depth = 3)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No hyperparameter tuning performed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GridSearchCV expected to improve significantly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All Models —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6766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Train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 RMSE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$64,214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$118,830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Polynomial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0.9563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0.9484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$78,223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$128,887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$85,187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$133,577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0.9272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0.9256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$96,163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$154,818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$96,161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$154,820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XGBoost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0.8409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0.8324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$188,268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$232,394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3E2DE8F0-B6E9-AEDC-BF5C-110DD371049D}"/>
              </a:ext>
            </a:extLst>
          </p:cNvPr>
          <p:cNvGrpSpPr/>
          <p:nvPr/>
        </p:nvGrpSpPr>
        <p:grpSpPr>
          <a:xfrm>
            <a:off x="6515100" y="1161288"/>
            <a:ext cx="5623560" cy="5127025"/>
            <a:chOff x="7223760" y="1213685"/>
            <a:chExt cx="5623560" cy="5127025"/>
          </a:xfrm>
        </p:grpSpPr>
        <p:sp>
          <p:nvSpPr>
            <p:cNvPr id="10" name="TextBox 9"/>
            <p:cNvSpPr txBox="1"/>
            <p:nvPr/>
          </p:nvSpPr>
          <p:spPr>
            <a:xfrm>
              <a:off x="11932920" y="2022130"/>
              <a:ext cx="9144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C3E50"/>
                  </a:solidFill>
                  <a:latin typeface="Calibri"/>
                </a:rPr>
                <a:t>0.9562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912034" y="2779776"/>
              <a:ext cx="9144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C3E50"/>
                  </a:solidFill>
                  <a:latin typeface="Calibri"/>
                </a:rPr>
                <a:t>0.9484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901859" y="3537421"/>
              <a:ext cx="9144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C3E50"/>
                  </a:solidFill>
                  <a:latin typeface="Calibri"/>
                </a:rPr>
                <a:t>0.9446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0985" y="4295067"/>
              <a:ext cx="9144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C3E50"/>
                  </a:solidFill>
                  <a:latin typeface="Calibri"/>
                </a:rPr>
                <a:t>0.9256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850985" y="5052713"/>
              <a:ext cx="9144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C3E50"/>
                  </a:solidFill>
                  <a:latin typeface="Calibri"/>
                </a:rPr>
                <a:t>0.9256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4A3B360-B7FE-C2E3-6CEE-0107DD48119B}"/>
                </a:ext>
              </a:extLst>
            </p:cNvPr>
            <p:cNvGrpSpPr/>
            <p:nvPr/>
          </p:nvGrpSpPr>
          <p:grpSpPr>
            <a:xfrm>
              <a:off x="7223760" y="1213685"/>
              <a:ext cx="4754880" cy="5127025"/>
              <a:chOff x="7223760" y="1213685"/>
              <a:chExt cx="4754880" cy="5127025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7223760" y="1213685"/>
                <a:ext cx="4754880" cy="757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300" b="1" i="0">
                    <a:solidFill>
                      <a:srgbClr val="1F3864"/>
                    </a:solidFill>
                    <a:latin typeface="Calibri"/>
                  </a:rPr>
                  <a:t>Test R² by Model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7223760" y="2022130"/>
                <a:ext cx="2011680" cy="530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1100" b="0" i="0" dirty="0">
                    <a:solidFill>
                      <a:srgbClr val="2C3E50"/>
                    </a:solidFill>
                    <a:latin typeface="Calibri"/>
                  </a:rPr>
                  <a:t>Random Forest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9326880" y="2022130"/>
                <a:ext cx="2560320" cy="530352"/>
              </a:xfrm>
              <a:prstGeom prst="rect">
                <a:avLst/>
              </a:prstGeom>
              <a:solidFill>
                <a:srgbClr val="1E8B4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223760" y="2779776"/>
                <a:ext cx="2011680" cy="530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1100" b="0" i="0" dirty="0">
                    <a:solidFill>
                      <a:srgbClr val="2C3E50"/>
                    </a:solidFill>
                    <a:latin typeface="Calibri"/>
                  </a:rPr>
                  <a:t>Poly. Reg.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9326880" y="2779776"/>
                <a:ext cx="2539434" cy="530352"/>
              </a:xfrm>
              <a:prstGeom prst="rect">
                <a:avLst/>
              </a:prstGeom>
              <a:solidFill>
                <a:srgbClr val="2E75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223760" y="3537421"/>
                <a:ext cx="2011680" cy="530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1100" b="0" i="0">
                    <a:solidFill>
                      <a:srgbClr val="2C3E50"/>
                    </a:solidFill>
                    <a:latin typeface="Calibri"/>
                  </a:rPr>
                  <a:t>Gradient B.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9326880" y="3537421"/>
                <a:ext cx="2529259" cy="530352"/>
              </a:xfrm>
              <a:prstGeom prst="rect">
                <a:avLst/>
              </a:prstGeom>
              <a:solidFill>
                <a:srgbClr val="E67E2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223760" y="4295067"/>
                <a:ext cx="2011680" cy="530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1100" b="0" i="0">
                    <a:solidFill>
                      <a:srgbClr val="2C3E50"/>
                    </a:solidFill>
                    <a:latin typeface="Calibri"/>
                  </a:rPr>
                  <a:t>Linear Reg.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9326880" y="4295067"/>
                <a:ext cx="2478385" cy="530352"/>
              </a:xfrm>
              <a:prstGeom prst="rect">
                <a:avLst/>
              </a:prstGeom>
              <a:solidFill>
                <a:srgbClr val="2E75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223760" y="5052713"/>
                <a:ext cx="2011680" cy="530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1100" b="0" i="0">
                    <a:solidFill>
                      <a:srgbClr val="2C3E50"/>
                    </a:solidFill>
                    <a:latin typeface="Calibri"/>
                  </a:rPr>
                  <a:t>Ridge Reg.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9326880" y="5052713"/>
                <a:ext cx="2478385" cy="530352"/>
              </a:xfrm>
              <a:prstGeom prst="rect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7223760" y="5810358"/>
                <a:ext cx="2011680" cy="530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1100" b="0" i="0">
                    <a:solidFill>
                      <a:srgbClr val="2C3E50"/>
                    </a:solidFill>
                    <a:latin typeface="Calibri"/>
                  </a:rPr>
                  <a:t>XGBoost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9326880" y="5810358"/>
                <a:ext cx="2228833" cy="530352"/>
              </a:xfrm>
              <a:prstGeom prst="rect">
                <a:avLst/>
              </a:prstGeom>
              <a:solidFill>
                <a:srgbClr val="C0392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11601433" y="5810358"/>
              <a:ext cx="9144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2C3E50"/>
                  </a:solidFill>
                  <a:latin typeface="Calibri"/>
                </a:rPr>
                <a:t>0.8324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365760" y="4343400"/>
            <a:ext cx="6766560" cy="658368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4531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🥇 Random Forest  —  Test R² = 0.9562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20640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2303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🥈 Polynomial Reg.  —  Test R² = 0.9484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97880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0076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🥉 Gradient Boosting  —  Test R² = 0.9446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Best Model: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  <a:latin typeface="Calibri"/>
              </a:rPr>
              <a:t>Test R² = 0.9562  |  RMSE = $118,830  |  MAE = $64,214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43200" cy="76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8B4C"/>
                </a:solidFill>
                <a:latin typeface="Calibri"/>
              </a:rPr>
              <a:t>0.9562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Test 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3444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234440"/>
            <a:ext cx="2743200" cy="76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5B6"/>
                </a:solidFill>
                <a:latin typeface="Calibri"/>
              </a:rPr>
              <a:t>$118,830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Test 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27432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67E22"/>
                </a:solidFill>
                <a:latin typeface="Calibri"/>
              </a:rPr>
              <a:t>$64,214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Test MAE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234440"/>
            <a:ext cx="2743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2560" y="1234440"/>
            <a:ext cx="2743200" cy="76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9C12"/>
                </a:solidFill>
                <a:latin typeface="Calibri"/>
              </a:rPr>
              <a:t>0.0380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Train–Test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06040"/>
            <a:ext cx="5577840" cy="40233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Model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Algorithm: RandomForestRegressor (sklearn)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n_estimators = 200 trees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max_features = 'sqrt' (reduces tree correlation)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random_state = 42  |  n_jobs = -1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No feature scaling required (tree-based)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Trained on 5,148 samples × 50 features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606040"/>
            <a:ext cx="5760720" cy="402336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Key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546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Best Test R² (0.9562) across all 6 models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$10,057 RMSE improvement over Polynomial Regression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Captures store-level non-linear interactions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Train R² (0.9942) indicates moderate overfitting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Gap can be reduced via max_depth / min_samples_split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  <a:latin typeface="Calibri"/>
              </a:rPr>
              <a:t>▸  Top features: store dummies, Month, Week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Overfitting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0"/>
                </a:solidFill>
                <a:latin typeface="Calibri"/>
              </a:rPr>
              <a:t>Train R² vs Test R² gap across all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Train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No overfitting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0.9256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No overfitting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Polynomial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No overfitting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0.9634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0.9446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0.0188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Slight overfit 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0.9562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Moderate overfit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0.8409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0.8324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0.0085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Underfitting 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160520"/>
            <a:ext cx="1143000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▸  No overfitting (gap &lt; 0.02):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Linear, Ridge, and Polynomial — store dummies are fixed identifiers, not noisy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01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▸  Moderate overfitting (RF gap = 0.038):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21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Unconstrained trees memorise training data — tuning max_depth or min_samples_split would help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515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▸  Underfitting (XGBoost):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716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Shallow trees (depth=3) with no tuning insufficient — GridSearchCV expected to close the gap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6949440" cy="53035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Built a complete ML pipeline: EDA → stats → 6 models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Store identity is the dominant predictor (η² = 0.917)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Fuel_Price was the only non-significant feature (p = 0.45)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Random Forest: best overall (Test R² = 0.9562, RMSE = $118,830)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Polynomial Reg.: best linear model (Test R² = 0.9484)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XGBoost underperformed without hyperparameter tuning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All models except XGBoost explained &gt; 92% of variance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234440"/>
            <a:ext cx="4434840" cy="5303520"/>
          </a:xfrm>
          <a:prstGeom prst="rect">
            <a:avLst/>
          </a:prstGeom>
          <a:solidFill>
            <a:srgbClr val="FDF6EC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325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7830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GridSearchCV tuning for XGBoost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k-fold cross-validation for all models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Bootstrap sampling for small dataset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Log-transformed target evaluation vs Kaggle benchmark (RMSE &lt; 0.347)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▸  Add store size &amp; demographic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7E2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337560"/>
            <a:ext cx="3657600" cy="25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Lin En Tan  ·  Elina Inanova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6E4F0"/>
                </a:solidFill>
                <a:latin typeface="Calibri"/>
              </a:rPr>
              <a:t>University of Illinois Springfield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1619</Words>
  <Application>Microsoft Office PowerPoint</Application>
  <PresentationFormat>Custom</PresentationFormat>
  <Paragraphs>383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 En Tan</cp:lastModifiedBy>
  <cp:revision>2</cp:revision>
  <dcterms:created xsi:type="dcterms:W3CDTF">2013-01-27T09:14:16Z</dcterms:created>
  <dcterms:modified xsi:type="dcterms:W3CDTF">2026-05-04T16:13:38Z</dcterms:modified>
  <cp:category/>
</cp:coreProperties>
</file>